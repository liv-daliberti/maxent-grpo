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Paper abstract and Figure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paper/figures/modecollapse_story.png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paper/figures/modebench_examples.png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Paper Section 2 and Appendix 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paper/figures/verified_replay_mechanism.png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paper/results/core_terminal_endpoints.json and cross-scale endpoint 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paper/figures/cross_scale_terminal_endpoint_effects.json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paper/figures/cross_scale_terminal_endpoint_effects.json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paper/figures/cross_scale_terminal_endpoint_effects.json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paper/figures/sustained_auc_effects_qwen05b.json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paper/figures/replay_mechanism_telemetry_qwen05b.json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paper/figures/direct_comparator_endpoint_effects.json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Paper conclusion and evidence policy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5303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8766E"/>
                </a:solidFill>
                <a:latin typeface="DejaVu Sans"/>
              </a:rPr>
              <a:t>MODE COLLAPSE UNDER GRPO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78992"/>
            <a:ext cx="7040880" cy="1481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88000"/>
              </a:lnSpc>
            </a:pPr>
            <a:r>
              <a:rPr sz="3800" b="1">
                <a:solidFill>
                  <a:srgbClr val="15263D"/>
                </a:solidFill>
                <a:latin typeface="DejaVu Sans"/>
              </a:rPr>
              <a:t>When eight samples</a:t>
            </a:r>
            <a:br/>
            <a:r>
              <a:rPr sz="3800" b="1">
                <a:solidFill>
                  <a:srgbClr val="15263D"/>
                </a:solidFill>
                <a:latin typeface="DejaVu Sans"/>
              </a:rPr>
              <a:t>become eight copies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779776"/>
            <a:ext cx="6675120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617083"/>
                </a:solidFill>
                <a:latin typeface="DejaVu Sans"/>
              </a:rPr>
              <a:t>Measuring—and retaining—verified outcome support in binary-reward RL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67912"/>
            <a:ext cx="667512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08766E"/>
                </a:solidFill>
                <a:latin typeface="DejaVu Sans"/>
              </a:rPr>
              <a:t>THESIS  </a:t>
            </a:r>
            <a:r>
              <a:rPr sz="1700" b="1">
                <a:solidFill>
                  <a:srgbClr val="15263D"/>
                </a:solidFill>
                <a:latin typeface="DejaVu Sans"/>
              </a:rPr>
              <a:t>Correctness can rise while useful proposal support collapses.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572000"/>
            <a:ext cx="621792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6D4AE5"/>
                </a:solidFill>
                <a:latin typeface="DejaVu Sans"/>
              </a:rPr>
              <a:t>ModeBench  +  ReplayDr.GRPO</a:t>
            </a:r>
          </a:p>
        </p:txBody>
      </p:sp>
      <p:sp>
        <p:nvSpPr>
          <p:cNvPr id="8" name="Oval 7"/>
          <p:cNvSpPr/>
          <p:nvPr/>
        </p:nvSpPr>
        <p:spPr>
          <a:xfrm>
            <a:off x="8229600" y="1325880"/>
            <a:ext cx="438912" cy="438912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335024"/>
            <a:ext cx="43891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8887968" y="1325880"/>
            <a:ext cx="438912" cy="438912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87968" y="1335024"/>
            <a:ext cx="43891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9546336" y="1325880"/>
            <a:ext cx="438912" cy="438912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46336" y="1335024"/>
            <a:ext cx="43891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10204704" y="1325880"/>
            <a:ext cx="438912" cy="438912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04704" y="1335024"/>
            <a:ext cx="43891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4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0" y="2039112"/>
            <a:ext cx="438912" cy="438912"/>
          </a:xfrm>
          <a:prstGeom prst="ellipse">
            <a:avLst/>
          </a:prstGeom>
          <a:solidFill>
            <a:srgbClr val="6D4AE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48255"/>
            <a:ext cx="43891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5</a:t>
            </a:r>
          </a:p>
        </p:txBody>
      </p:sp>
      <p:sp>
        <p:nvSpPr>
          <p:cNvPr id="18" name="Oval 17"/>
          <p:cNvSpPr/>
          <p:nvPr/>
        </p:nvSpPr>
        <p:spPr>
          <a:xfrm>
            <a:off x="8887968" y="2039112"/>
            <a:ext cx="438912" cy="438912"/>
          </a:xfrm>
          <a:prstGeom prst="ellipse">
            <a:avLst/>
          </a:prstGeom>
          <a:solidFill>
            <a:srgbClr val="6D4AE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87968" y="2048255"/>
            <a:ext cx="43891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6</a:t>
            </a:r>
          </a:p>
        </p:txBody>
      </p:sp>
      <p:sp>
        <p:nvSpPr>
          <p:cNvPr id="20" name="Oval 19"/>
          <p:cNvSpPr/>
          <p:nvPr/>
        </p:nvSpPr>
        <p:spPr>
          <a:xfrm>
            <a:off x="9546336" y="2039112"/>
            <a:ext cx="438912" cy="438912"/>
          </a:xfrm>
          <a:prstGeom prst="ellipse">
            <a:avLst/>
          </a:prstGeom>
          <a:solidFill>
            <a:srgbClr val="6D4AE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46336" y="2048255"/>
            <a:ext cx="43891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7</a:t>
            </a:r>
          </a:p>
        </p:txBody>
      </p:sp>
      <p:sp>
        <p:nvSpPr>
          <p:cNvPr id="22" name="Oval 21"/>
          <p:cNvSpPr/>
          <p:nvPr/>
        </p:nvSpPr>
        <p:spPr>
          <a:xfrm>
            <a:off x="10204704" y="2039112"/>
            <a:ext cx="438912" cy="438912"/>
          </a:xfrm>
          <a:prstGeom prst="ellipse">
            <a:avLst/>
          </a:prstGeom>
          <a:solidFill>
            <a:srgbClr val="6D4AE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04704" y="2048255"/>
            <a:ext cx="43891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8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458200" y="1536192"/>
            <a:ext cx="1188720" cy="2258568"/>
          </a:xfrm>
          <a:prstGeom prst="line">
            <a:avLst/>
          </a:prstGeom>
          <a:ln w="1397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16568" y="1536192"/>
            <a:ext cx="530352" cy="2258568"/>
          </a:xfrm>
          <a:prstGeom prst="line">
            <a:avLst/>
          </a:prstGeom>
          <a:ln w="1397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9646920" y="1536192"/>
            <a:ext cx="128016" cy="2258568"/>
          </a:xfrm>
          <a:prstGeom prst="line">
            <a:avLst/>
          </a:prstGeom>
          <a:ln w="1397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9646920" y="1536192"/>
            <a:ext cx="786384" cy="2258568"/>
          </a:xfrm>
          <a:prstGeom prst="line">
            <a:avLst/>
          </a:prstGeom>
          <a:ln w="1397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58200" y="2249424"/>
            <a:ext cx="1188720" cy="1545336"/>
          </a:xfrm>
          <a:prstGeom prst="line">
            <a:avLst/>
          </a:prstGeom>
          <a:ln w="1397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116568" y="2249424"/>
            <a:ext cx="530352" cy="1545336"/>
          </a:xfrm>
          <a:prstGeom prst="line">
            <a:avLst/>
          </a:prstGeom>
          <a:ln w="1397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9646920" y="2249424"/>
            <a:ext cx="128016" cy="1545336"/>
          </a:xfrm>
          <a:prstGeom prst="line">
            <a:avLst/>
          </a:prstGeom>
          <a:ln w="1397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9646920" y="2249424"/>
            <a:ext cx="786384" cy="1545336"/>
          </a:xfrm>
          <a:prstGeom prst="line">
            <a:avLst/>
          </a:prstGeom>
          <a:ln w="1397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924544" y="3429000"/>
            <a:ext cx="1417320" cy="1417320"/>
          </a:xfrm>
          <a:prstGeom prst="ellipse">
            <a:avLst/>
          </a:prstGeom>
          <a:solidFill>
            <a:srgbClr val="6D4AE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24544" y="3438144"/>
            <a:ext cx="1417320" cy="1399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95" b="1">
                <a:solidFill>
                  <a:srgbClr val="FFFFFF"/>
                </a:solidFill>
                <a:latin typeface="DejaVu Sans"/>
              </a:rPr>
              <a:t>1 mode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74152" y="2724912"/>
            <a:ext cx="30632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617083"/>
                </a:solidFill>
                <a:latin typeface="DejaVu Sans"/>
              </a:rPr>
              <a:t>8 nominal attempts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144768"/>
            <a:ext cx="4114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17083"/>
                </a:solidFill>
                <a:latin typeface="DejaVu Sans"/>
              </a:rPr>
              <a:t>Anonymous Authors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19456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8766E"/>
                </a:solidFill>
                <a:latin typeface="DejaVu Sans"/>
              </a:rPr>
              <a:t>MODE COLLAPSE UNDER GRPO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28832" y="201168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17083"/>
                </a:solidFill>
                <a:latin typeface="DejaVu San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75488"/>
            <a:ext cx="1120140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15263D"/>
                </a:solidFill>
                <a:latin typeface="DejaVu Sans"/>
              </a:rPr>
              <a:t>Accuracy can look perfect while support disappears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87552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17083"/>
                </a:solidFill>
                <a:latin typeface="DejaVu Sans"/>
              </a:rPr>
              <a:t>A mechanically selected Qwen2.5-3B Graph Coloring pair: both arms remain 32/32 correct.</a:t>
            </a:r>
          </a:p>
        </p:txBody>
      </p:sp>
      <p:pic>
        <p:nvPicPr>
          <p:cNvPr id="7" name="Picture 6" descr="paper_modecollapse_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383871"/>
            <a:ext cx="11201400" cy="4007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" y="5650992"/>
            <a:ext cx="10972800" cy="667512"/>
          </a:xfrm>
          <a:prstGeom prst="roundRect">
            <a:avLst/>
          </a:prstGeom>
          <a:solidFill>
            <a:srgbClr val="15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5815584"/>
            <a:ext cx="10515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DejaVu Sans"/>
              </a:rPr>
              <a:t>Matched Dr.GRPO: </a:t>
            </a:r>
            <a:r>
              <a:rPr sz="1700" b="1">
                <a:solidFill>
                  <a:srgbClr val="F5D2CE"/>
                </a:solidFill>
                <a:latin typeface="DejaVu Sans"/>
              </a:rPr>
              <a:t>4 → 1 observed modes</a:t>
            </a:r>
            <a:r>
              <a:rPr sz="1700" b="1">
                <a:solidFill>
                  <a:srgbClr val="FFFFFF"/>
                </a:solidFill>
                <a:latin typeface="DejaVu Sans"/>
              </a:rPr>
              <a:t>     ReplayDr.GRPO: </a:t>
            </a:r>
            <a:r>
              <a:rPr sz="1700" b="1">
                <a:solidFill>
                  <a:srgbClr val="BFE7E2"/>
                </a:solidFill>
                <a:latin typeface="DejaVu Sans"/>
              </a:rPr>
              <a:t>4 → 5 observed modes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6601968"/>
            <a:ext cx="11109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617083"/>
                </a:solidFill>
                <a:latin typeface="DejaVu Sans"/>
              </a:rPr>
              <a:t>Source: paper Figure 1 · fixed-seed illustration; registered paired estimates follow later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19456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8766E"/>
                </a:solidFill>
                <a:latin typeface="DejaVu Sans"/>
              </a:rPr>
              <a:t>MODE COLLAPSE UNDER GRPO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28832" y="201168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17083"/>
                </a:solidFill>
                <a:latin typeface="DejaVu San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75488"/>
            <a:ext cx="1120140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15263D"/>
                </a:solidFill>
                <a:latin typeface="DejaVu Sans"/>
              </a:rPr>
              <a:t>Binary correctness hides answer identity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87552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17083"/>
                </a:solidFill>
                <a:latin typeface="DejaVu Sans"/>
              </a:rPr>
              <a:t>ModeBench executes each answer twice: once for validity, once for a canonical outcome key.</a:t>
            </a:r>
          </a:p>
        </p:txBody>
      </p:sp>
      <p:pic>
        <p:nvPicPr>
          <p:cNvPr id="7" name="Picture 6" descr="paper_modebench_exam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97" y="1307592"/>
            <a:ext cx="8887069" cy="50017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619488" y="1417320"/>
            <a:ext cx="2121408" cy="4526280"/>
          </a:xfrm>
          <a:prstGeom prst="roundRect">
            <a:avLst/>
          </a:prstGeom>
          <a:solidFill>
            <a:srgbClr val="15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38944" y="1700784"/>
            <a:ext cx="169164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DejaVu Sans"/>
              </a:rPr>
              <a:t>Two metrics,</a:t>
            </a:r>
            <a:br/>
            <a:r>
              <a:rPr sz="1800" b="1">
                <a:solidFill>
                  <a:srgbClr val="FFFFFF"/>
                </a:solidFill>
                <a:latin typeface="DejaVu Sans"/>
              </a:rPr>
              <a:t>two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48088" y="2615184"/>
            <a:ext cx="166420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FE7E2"/>
                </a:solidFill>
                <a:latin typeface="DejaVu Sans"/>
              </a:rPr>
              <a:t>pass@8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48088" y="2999232"/>
            <a:ext cx="1664208" cy="5852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DejaVu Sans"/>
              </a:rPr>
              <a:t>Did any sample</a:t>
            </a:r>
            <a:br/>
            <a:r>
              <a:rPr sz="1300" b="0">
                <a:solidFill>
                  <a:srgbClr val="FFFFFF"/>
                </a:solidFill>
                <a:latin typeface="DejaVu Sans"/>
              </a:rPr>
              <a:t>succeed?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56648" y="3867912"/>
            <a:ext cx="184708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DDD4FA"/>
                </a:solidFill>
                <a:latin typeface="DejaVu Sans"/>
              </a:rPr>
              <a:t>distinct@8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74936" y="4251960"/>
            <a:ext cx="1810512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DejaVu Sans"/>
              </a:rPr>
              <a:t>How many different</a:t>
            </a:r>
            <a:br/>
            <a:r>
              <a:rPr sz="1300" b="0">
                <a:solidFill>
                  <a:srgbClr val="FFFFFF"/>
                </a:solidFill>
                <a:latin typeface="DejaVu Sans"/>
              </a:rPr>
              <a:t>verified outcomes?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5184648"/>
            <a:ext cx="16916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5D2CE"/>
                </a:solidFill>
                <a:latin typeface="DejaVu Sans"/>
              </a:rPr>
              <a:t>Token entropy cannot answer the second question.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6601968"/>
            <a:ext cx="11109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617083"/>
                </a:solidFill>
                <a:latin typeface="DejaVu Sans"/>
              </a:rPr>
              <a:t>Source: paper Figure 2 · execution-defined keys; no text clustering or gold mode catalogue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19456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8766E"/>
                </a:solidFill>
                <a:latin typeface="DejaVu Sans"/>
              </a:rPr>
              <a:t>MODE COLLAPSE UNDER GRPO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28832" y="201168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17083"/>
                </a:solidFill>
                <a:latin typeface="DejaVu San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75488"/>
            <a:ext cx="1120140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15263D"/>
                </a:solidFill>
                <a:latin typeface="DejaVu Sans"/>
              </a:rPr>
              <a:t>Why GRPO concentrates correct modes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87552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17083"/>
                </a:solidFill>
                <a:latin typeface="DejaVu Sans"/>
              </a:rPr>
              <a:t>Equal binary reward does not imply equal learning pressure across correct outcomes.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" y="1389888"/>
            <a:ext cx="5440680" cy="4434840"/>
          </a:xfrm>
          <a:prstGeom prst="roundRect">
            <a:avLst/>
          </a:prstGeom>
          <a:solidFill>
            <a:srgbClr val="F5D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73352"/>
            <a:ext cx="4937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E25B55"/>
                </a:solidFill>
                <a:latin typeface="DejaVu Sans"/>
              </a:rPr>
              <a:t>ON-POLICY BINARY REWARD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84248"/>
            <a:ext cx="49377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5263D"/>
                </a:solidFill>
                <a:latin typeface="DejaVu Sans"/>
              </a:rPr>
              <a:t>Sampled winners get reinforced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2798064"/>
            <a:ext cx="658368" cy="658368"/>
          </a:xfrm>
          <a:prstGeom prst="ellipse">
            <a:avLst/>
          </a:prstGeom>
          <a:solidFill>
            <a:srgbClr val="6D4AE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807208"/>
            <a:ext cx="65836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A</a:t>
            </a:r>
          </a:p>
        </p:txBody>
      </p:sp>
      <p:sp>
        <p:nvSpPr>
          <p:cNvPr id="12" name="Oval 11"/>
          <p:cNvSpPr/>
          <p:nvPr/>
        </p:nvSpPr>
        <p:spPr>
          <a:xfrm>
            <a:off x="2423160" y="2798064"/>
            <a:ext cx="658368" cy="658368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3160" y="2807208"/>
            <a:ext cx="65836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B</a:t>
            </a:r>
          </a:p>
        </p:txBody>
      </p:sp>
      <p:sp>
        <p:nvSpPr>
          <p:cNvPr id="14" name="Oval 13"/>
          <p:cNvSpPr/>
          <p:nvPr/>
        </p:nvSpPr>
        <p:spPr>
          <a:xfrm>
            <a:off x="3840480" y="2798064"/>
            <a:ext cx="658368" cy="658368"/>
          </a:xfrm>
          <a:prstGeom prst="ellipse">
            <a:avLst/>
          </a:prstGeom>
          <a:solidFill>
            <a:srgbClr val="D39B3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2807208"/>
            <a:ext cx="65836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35024" y="3529584"/>
            <a:ext cx="1024128" cy="786384"/>
          </a:xfrm>
          <a:prstGeom prst="line">
            <a:avLst/>
          </a:prstGeom>
          <a:ln w="25400">
            <a:solidFill>
              <a:srgbClr val="E25B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633472" y="3529584"/>
            <a:ext cx="118872" cy="786384"/>
          </a:xfrm>
          <a:prstGeom prst="line">
            <a:avLst/>
          </a:prstGeom>
          <a:ln w="17780">
            <a:solidFill>
              <a:srgbClr val="DCE2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2907792" y="3529584"/>
            <a:ext cx="1261871" cy="786384"/>
          </a:xfrm>
          <a:prstGeom prst="line">
            <a:avLst/>
          </a:prstGeom>
          <a:ln w="17780">
            <a:solidFill>
              <a:srgbClr val="DCE2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993392" y="4233672"/>
            <a:ext cx="1280160" cy="1280160"/>
          </a:xfrm>
          <a:prstGeom prst="ellipse">
            <a:avLst/>
          </a:prstGeom>
          <a:solidFill>
            <a:srgbClr val="6D4AE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93392" y="4242816"/>
            <a:ext cx="1280160" cy="1261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60" b="1">
                <a:solidFill>
                  <a:srgbClr val="FFFFFF"/>
                </a:solidFill>
                <a:latin typeface="DejaVu Sans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882896"/>
            <a:ext cx="466344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E25B55"/>
                </a:solidFill>
                <a:latin typeface="DejaVu Sans"/>
              </a:rPr>
              <a:t>A correct mode absent from the sampled group receives no update.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5352" y="1389888"/>
            <a:ext cx="5440680" cy="4434840"/>
          </a:xfrm>
          <a:prstGeom prst="roundRect">
            <a:avLst/>
          </a:prstGeom>
          <a:solidFill>
            <a:srgbClr val="BF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1673352"/>
            <a:ext cx="4937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08766E"/>
                </a:solidFill>
                <a:latin typeface="DejaVu Sans"/>
              </a:rPr>
              <a:t>RECURRENT VERIFIED REPLAY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1984248"/>
            <a:ext cx="49377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5263D"/>
                </a:solidFill>
                <a:latin typeface="DejaVu Sans"/>
              </a:rPr>
              <a:t>Every banked mode keeps a gradient</a:t>
            </a:r>
          </a:p>
        </p:txBody>
      </p:sp>
      <p:sp>
        <p:nvSpPr>
          <p:cNvPr id="25" name="Oval 24"/>
          <p:cNvSpPr/>
          <p:nvPr/>
        </p:nvSpPr>
        <p:spPr>
          <a:xfrm>
            <a:off x="6748272" y="2798064"/>
            <a:ext cx="658368" cy="658368"/>
          </a:xfrm>
          <a:prstGeom prst="ellipse">
            <a:avLst/>
          </a:prstGeom>
          <a:solidFill>
            <a:srgbClr val="6D4AE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48272" y="2807208"/>
            <a:ext cx="65836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77456" y="3529584"/>
            <a:ext cx="566927" cy="786384"/>
          </a:xfrm>
          <a:prstGeom prst="line">
            <a:avLst/>
          </a:prstGeom>
          <a:ln w="25400">
            <a:solidFill>
              <a:srgbClr val="08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7269480" y="4261104"/>
            <a:ext cx="713232" cy="713232"/>
          </a:xfrm>
          <a:prstGeom prst="ellipse">
            <a:avLst/>
          </a:prstGeom>
          <a:solidFill>
            <a:srgbClr val="6D4AE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9480" y="4270248"/>
            <a:ext cx="713232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A</a:t>
            </a:r>
          </a:p>
        </p:txBody>
      </p:sp>
      <p:sp>
        <p:nvSpPr>
          <p:cNvPr id="30" name="Oval 29"/>
          <p:cNvSpPr/>
          <p:nvPr/>
        </p:nvSpPr>
        <p:spPr>
          <a:xfrm>
            <a:off x="8165592" y="2798064"/>
            <a:ext cx="658368" cy="658368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65592" y="2807208"/>
            <a:ext cx="65836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B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8394192" y="3529584"/>
            <a:ext cx="100584" cy="786384"/>
          </a:xfrm>
          <a:prstGeom prst="line">
            <a:avLst/>
          </a:prstGeom>
          <a:ln w="25400">
            <a:solidFill>
              <a:srgbClr val="08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019288" y="4261104"/>
            <a:ext cx="713232" cy="713232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19288" y="4270248"/>
            <a:ext cx="713232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B</a:t>
            </a:r>
          </a:p>
        </p:txBody>
      </p:sp>
      <p:sp>
        <p:nvSpPr>
          <p:cNvPr id="35" name="Oval 34"/>
          <p:cNvSpPr/>
          <p:nvPr/>
        </p:nvSpPr>
        <p:spPr>
          <a:xfrm>
            <a:off x="9582912" y="2798064"/>
            <a:ext cx="658368" cy="658368"/>
          </a:xfrm>
          <a:prstGeom prst="ellipse">
            <a:avLst/>
          </a:prstGeom>
          <a:solidFill>
            <a:srgbClr val="D39B3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82912" y="2807208"/>
            <a:ext cx="65836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C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9144000" y="3529584"/>
            <a:ext cx="768096" cy="786384"/>
          </a:xfrm>
          <a:prstGeom prst="line">
            <a:avLst/>
          </a:prstGeom>
          <a:ln w="25400">
            <a:solidFill>
              <a:srgbClr val="08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769096" y="4261104"/>
            <a:ext cx="713232" cy="713232"/>
          </a:xfrm>
          <a:prstGeom prst="ellipse">
            <a:avLst/>
          </a:prstGeom>
          <a:solidFill>
            <a:srgbClr val="D39B3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69096" y="4270248"/>
            <a:ext cx="713232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65392" y="4828032"/>
            <a:ext cx="4800600" cy="7863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8766E"/>
                </a:solidFill>
                <a:latin typeface="DejaVu Sans"/>
              </a:rPr>
              <a:t>Post-discovery guarantee: recurrent positive replay prevents banked-mode extinction.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" y="6601968"/>
            <a:ext cx="11109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617083"/>
                </a:solidFill>
                <a:latin typeface="DejaVu Sans"/>
              </a:rPr>
              <a:t>Theory boundary: fixed-bank categorical assumptions; protects discovered, verified, retained modes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19456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8766E"/>
                </a:solidFill>
                <a:latin typeface="DejaVu Sans"/>
              </a:rPr>
              <a:t>MODE COLLAPSE UNDER GRPO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28832" y="201168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17083"/>
                </a:solidFill>
                <a:latin typeface="DejaVu San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75488"/>
            <a:ext cx="1120140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15263D"/>
                </a:solidFill>
                <a:latin typeface="DejaVu Sans"/>
              </a:rPr>
              <a:t>Replay adds one operation: revisit every discovered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87552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17083"/>
                </a:solidFill>
                <a:latin typeface="DejaVu Sans"/>
              </a:rPr>
              <a:t>One policy-generated, validator-positive exemplar per canonical key; uniform teacher-forced likelihood.</a:t>
            </a:r>
          </a:p>
        </p:txBody>
      </p:sp>
      <p:pic>
        <p:nvPicPr>
          <p:cNvPr id="7" name="Picture 6" descr="paper_verified_replay_mechani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722034"/>
            <a:ext cx="11018520" cy="248124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4736592"/>
            <a:ext cx="10972800" cy="1115568"/>
          </a:xfrm>
          <a:prstGeom prst="roundRect">
            <a:avLst/>
          </a:prstGeom>
          <a:solidFill>
            <a:srgbClr val="15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992624"/>
            <a:ext cx="104241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DejaVu Sans"/>
              </a:rPr>
              <a:t>Matched control: </a:t>
            </a:r>
            <a:r>
              <a:rPr sz="1600" b="0">
                <a:solidFill>
                  <a:srgbClr val="FFFFFF"/>
                </a:solidFill>
                <a:latin typeface="DejaVu Sans"/>
              </a:rPr>
              <a:t>same bank maintenance, traversal, scoring, and backward pass</a:t>
            </a:r>
            <a:r>
              <a:rPr sz="1600" b="1">
                <a:solidFill>
                  <a:srgbClr val="BFE7E2"/>
                </a:solidFill>
                <a:latin typeface="DejaVu Sans"/>
              </a:rPr>
              <a:t>   |   intervention: </a:t>
            </a:r>
            <a:r>
              <a:rPr sz="1600" b="1">
                <a:solidFill>
                  <a:srgbClr val="BFE7E2"/>
                </a:solidFill>
                <a:latin typeface="DejaVu Sans"/>
              </a:rPr>
              <a:t>replay derivative 0 → λ = .10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504688"/>
            <a:ext cx="10149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5D2CE"/>
                </a:solidFill>
                <a:latin typeface="DejaVu Sans"/>
              </a:rPr>
              <a:t>No unseen-mode oracle. No gold catalogue. No cross-prompt mode matching.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6601968"/>
            <a:ext cx="11109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617083"/>
                </a:solidFill>
                <a:latin typeface="DejaVu Sans"/>
              </a:rPr>
              <a:t>Source: method figure and clean comparison contract in paper/README.md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19456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8766E"/>
                </a:solidFill>
                <a:latin typeface="DejaVu Sans"/>
              </a:rPr>
              <a:t>MODE COLLAPSE UNDER GRPO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28832" y="201168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17083"/>
                </a:solidFill>
                <a:latin typeface="DejaVu San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75488"/>
            <a:ext cx="1120140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15263D"/>
                </a:solidFill>
                <a:latin typeface="DejaVu Sans"/>
              </a:rPr>
              <a:t>The clean test is a 3 × 5 × 5 paired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87552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17083"/>
                </a:solidFill>
                <a:latin typeface="DejaVu Sans"/>
              </a:rPr>
              <a:t>No model or domain pooling; every headline estimate is a within-seed matched comparison.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286000" cy="4343400"/>
          </a:xfrm>
          <a:prstGeom prst="roundRect">
            <a:avLst/>
          </a:prstGeom>
          <a:solidFill>
            <a:srgbClr val="15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783080"/>
            <a:ext cx="18288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>
                <a:solidFill>
                  <a:srgbClr val="BFE7E2"/>
                </a:solidFill>
                <a:latin typeface="DejaVu San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432304"/>
            <a:ext cx="18288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DejaVu Sans"/>
              </a:rPr>
              <a:t>models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999232"/>
            <a:ext cx="1737360" cy="43891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3081528"/>
            <a:ext cx="162763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DejaVu Sans"/>
              </a:rPr>
              <a:t>Qwen2.5-0.5B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57600"/>
            <a:ext cx="1737360" cy="438912"/>
          </a:xfrm>
          <a:prstGeom prst="roundRect">
            <a:avLst/>
          </a:prstGeom>
          <a:solidFill>
            <a:srgbClr val="6D4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739896"/>
            <a:ext cx="162763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DejaVu Sans"/>
              </a:rPr>
              <a:t>Falcon3-1B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315968"/>
            <a:ext cx="1737360" cy="438912"/>
          </a:xfrm>
          <a:prstGeom prst="roundRect">
            <a:avLst/>
          </a:prstGeom>
          <a:solidFill>
            <a:srgbClr val="D3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4398264"/>
            <a:ext cx="162763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DejaVu Sans"/>
              </a:rPr>
              <a:t>Qwen2.5-3B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0088" y="3108960"/>
            <a:ext cx="384048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617083"/>
                </a:solidFill>
                <a:latin typeface="DejaVu Sans"/>
              </a:rPr>
              <a:t>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93008" y="1417320"/>
            <a:ext cx="4251960" cy="4343400"/>
          </a:xfrm>
          <a:prstGeom prst="round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1755648"/>
            <a:ext cx="3749039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15263D"/>
                </a:solidFill>
                <a:latin typeface="DejaVu Sans"/>
              </a:rPr>
              <a:t>5 executable domains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13632" y="2487168"/>
            <a:ext cx="34015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05072" y="2560320"/>
            <a:ext cx="32004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5263D"/>
                </a:solidFill>
                <a:latin typeface="DejaVu Sans"/>
              </a:rPr>
              <a:t>Graph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13632" y="3044952"/>
            <a:ext cx="34015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05072" y="3118104"/>
            <a:ext cx="32004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5263D"/>
                </a:solidFill>
                <a:latin typeface="DejaVu Sans"/>
              </a:rPr>
              <a:t>Countdown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13632" y="3602736"/>
            <a:ext cx="34015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05072" y="3675888"/>
            <a:ext cx="32004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5263D"/>
                </a:solidFill>
                <a:latin typeface="DejaVu Sans"/>
              </a:rPr>
              <a:t>Python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13632" y="4160520"/>
            <a:ext cx="34015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05072" y="4233672"/>
            <a:ext cx="32004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5263D"/>
                </a:solidFill>
                <a:latin typeface="DejaVu Sans"/>
              </a:rPr>
              <a:t>MathIR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13632" y="4718304"/>
            <a:ext cx="34015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05072" y="4791456"/>
            <a:ext cx="32004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5263D"/>
                </a:solidFill>
                <a:latin typeface="DejaVu Sans"/>
              </a:rPr>
              <a:t>Pantry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0416" y="3108960"/>
            <a:ext cx="384048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617083"/>
                </a:solidFill>
                <a:latin typeface="DejaVu Sans"/>
              </a:rPr>
              <a:t>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94192" y="1417320"/>
            <a:ext cx="3246120" cy="4343400"/>
          </a:xfrm>
          <a:prstGeom prst="roundRect">
            <a:avLst/>
          </a:prstGeom>
          <a:solidFill>
            <a:srgbClr val="BF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68512" y="1755648"/>
            <a:ext cx="26974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15263D"/>
                </a:solidFill>
                <a:latin typeface="DejaVu Sans"/>
              </a:rPr>
              <a:t>5 paired seeds</a:t>
            </a:r>
          </a:p>
        </p:txBody>
      </p:sp>
      <p:sp>
        <p:nvSpPr>
          <p:cNvPr id="32" name="Oval 31"/>
          <p:cNvSpPr/>
          <p:nvPr/>
        </p:nvSpPr>
        <p:spPr>
          <a:xfrm>
            <a:off x="8759952" y="2615184"/>
            <a:ext cx="512064" cy="512064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59952" y="2624327"/>
            <a:ext cx="51206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1</a:t>
            </a:r>
          </a:p>
        </p:txBody>
      </p:sp>
      <p:sp>
        <p:nvSpPr>
          <p:cNvPr id="34" name="Oval 33"/>
          <p:cNvSpPr/>
          <p:nvPr/>
        </p:nvSpPr>
        <p:spPr>
          <a:xfrm>
            <a:off x="9601200" y="2615184"/>
            <a:ext cx="512064" cy="512064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0" y="2624327"/>
            <a:ext cx="51206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2</a:t>
            </a:r>
          </a:p>
        </p:txBody>
      </p:sp>
      <p:sp>
        <p:nvSpPr>
          <p:cNvPr id="36" name="Oval 35"/>
          <p:cNvSpPr/>
          <p:nvPr/>
        </p:nvSpPr>
        <p:spPr>
          <a:xfrm>
            <a:off x="10442448" y="2615184"/>
            <a:ext cx="512064" cy="512064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42448" y="2624327"/>
            <a:ext cx="51206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3</a:t>
            </a:r>
          </a:p>
        </p:txBody>
      </p:sp>
      <p:sp>
        <p:nvSpPr>
          <p:cNvPr id="38" name="Oval 37"/>
          <p:cNvSpPr/>
          <p:nvPr/>
        </p:nvSpPr>
        <p:spPr>
          <a:xfrm>
            <a:off x="8759952" y="3511296"/>
            <a:ext cx="512064" cy="512064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59952" y="3520439"/>
            <a:ext cx="51206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4</a:t>
            </a:r>
          </a:p>
        </p:txBody>
      </p:sp>
      <p:sp>
        <p:nvSpPr>
          <p:cNvPr id="40" name="Oval 39"/>
          <p:cNvSpPr/>
          <p:nvPr/>
        </p:nvSpPr>
        <p:spPr>
          <a:xfrm>
            <a:off x="9601200" y="3511296"/>
            <a:ext cx="512064" cy="512064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01200" y="3520439"/>
            <a:ext cx="51206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DejaVu Sans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68512" y="4315968"/>
            <a:ext cx="269748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>
                <a:solidFill>
                  <a:srgbClr val="08766E"/>
                </a:solidFill>
                <a:latin typeface="DejaVu Sans"/>
              </a:rPr>
              <a:t>75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68512" y="4882896"/>
            <a:ext cx="269748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5263D"/>
                </a:solidFill>
                <a:latin typeface="DejaVu Sans"/>
              </a:rPr>
              <a:t>paired terminal comparisons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60704" y="5943600"/>
            <a:ext cx="100584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43584" y="6025896"/>
            <a:ext cx="96926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617083"/>
                </a:solidFill>
                <a:latin typeface="DejaVu Sans"/>
              </a:rPr>
              <a:t>Same prompts · data · bank maintenance · schedule · evaluation    |    Only the replay gradient changes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" y="6601968"/>
            <a:ext cx="11109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617083"/>
                </a:solidFill>
                <a:latin typeface="DejaVu Sans"/>
              </a:rPr>
              <a:t>Design: 3 model rows × 5 domains × 5 registered seeds; terminal pass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19456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8766E"/>
                </a:solidFill>
                <a:latin typeface="DejaVu Sans"/>
              </a:rPr>
              <a:t>MODE COLLAPSE UNDER GRPO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28832" y="201168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17083"/>
                </a:solidFill>
                <a:latin typeface="DejaVu San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75488"/>
            <a:ext cx="1120140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15263D"/>
                </a:solidFill>
                <a:latin typeface="DejaVu Sans"/>
              </a:rPr>
              <a:t>Replay raises verified breadth in all 75 / 75 paired 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87552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17083"/>
                </a:solidFill>
                <a:latin typeface="DejaVu Sans"/>
              </a:rPr>
              <a:t>Raw terminal distinct@8 is higher for every paired seed at every model scale.</a:t>
            </a:r>
          </a:p>
        </p:txBody>
      </p:sp>
      <p:pic>
        <p:nvPicPr>
          <p:cNvPr id="7" name="Picture 6" descr="headline_75_pai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156070"/>
            <a:ext cx="11247120" cy="329566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912" y="6601968"/>
            <a:ext cx="11109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617083"/>
                </a:solidFill>
                <a:latin typeface="DejaVu Sans"/>
              </a:rPr>
              <a:t>Source: cross_scale_terminal_endpoint_effects.json · no domain pooling; paired n=5 within each cell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19456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8766E"/>
                </a:solidFill>
                <a:latin typeface="DejaVu Sans"/>
              </a:rPr>
              <a:t>MODE COLLAPSE UNDER GRPO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28832" y="201168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17083"/>
                </a:solidFill>
                <a:latin typeface="DejaVu San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75488"/>
            <a:ext cx="1120140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15263D"/>
                </a:solidFill>
                <a:latin typeface="DejaVu Sans"/>
              </a:rPr>
              <a:t>The Falcon replication makes the effect concrete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87552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17083"/>
                </a:solidFill>
                <a:latin typeface="DejaVu Sans"/>
              </a:rPr>
              <a:t>A second model family; five domains; every paired seed moves upward.</a:t>
            </a:r>
          </a:p>
        </p:txBody>
      </p:sp>
      <p:pic>
        <p:nvPicPr>
          <p:cNvPr id="7" name="Picture 6" descr="falcon_paired_endpoi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342044"/>
            <a:ext cx="11228832" cy="28414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912" y="6601968"/>
            <a:ext cx="11109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617083"/>
                </a:solidFill>
                <a:latin typeface="DejaVu Sans"/>
              </a:rPr>
              <a:t>Falcon3-1B terminal pass 8 · mean raw gains: +.683, +.421, +1.107, +.659, +.943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19456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8766E"/>
                </a:solidFill>
                <a:latin typeface="DejaVu Sans"/>
              </a:rPr>
              <a:t>MODE COLLAPSE UNDER GRPO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28832" y="201168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17083"/>
                </a:solidFill>
                <a:latin typeface="DejaVu San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75488"/>
            <a:ext cx="1120140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15263D"/>
                </a:solidFill>
                <a:latin typeface="DejaVu Sans"/>
              </a:rPr>
              <a:t>Breadth gains can be accuracy rescues—or extra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87552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17083"/>
                </a:solidFill>
                <a:latin typeface="DejaVu Sans"/>
              </a:rPr>
              <a:t>Distance above the diagonal is correctness-adjusted breadth: Δdistinct@8 − Δpass@8.</a:t>
            </a:r>
          </a:p>
        </p:txBody>
      </p:sp>
      <p:pic>
        <p:nvPicPr>
          <p:cNvPr id="7" name="Picture 6" descr="accuracy_vs_breadth_effe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837434"/>
            <a:ext cx="8028431" cy="399694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833104" y="1591056"/>
            <a:ext cx="2807208" cy="4261104"/>
          </a:xfrm>
          <a:prstGeom prst="roundRect">
            <a:avLst/>
          </a:prstGeom>
          <a:solidFill>
            <a:srgbClr val="15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89136" y="1901952"/>
            <a:ext cx="230428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BFE7E2"/>
                </a:solidFill>
                <a:latin typeface="DejaVu Sans"/>
              </a:rPr>
              <a:t>RAW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89136" y="2249424"/>
            <a:ext cx="2304288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>
                <a:solidFill>
                  <a:srgbClr val="FFFFFF"/>
                </a:solidFill>
                <a:latin typeface="DejaVu Sans"/>
              </a:rPr>
              <a:t>75 / 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89136" y="2825496"/>
            <a:ext cx="2304288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DejaVu Sans"/>
              </a:rPr>
              <a:t>paired runs have</a:t>
            </a:r>
            <a:br/>
            <a:r>
              <a:rPr sz="1400" b="0">
                <a:solidFill>
                  <a:srgbClr val="FFFFFF"/>
                </a:solidFill>
                <a:latin typeface="DejaVu Sans"/>
              </a:rPr>
              <a:t>more distinct outcomes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89136" y="3730752"/>
            <a:ext cx="230428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5D2CE"/>
                </a:solidFill>
                <a:latin typeface="DejaVu Sans"/>
              </a:rPr>
              <a:t>CAUSAL 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7424" y="4096512"/>
            <a:ext cx="2267712" cy="11155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DejaVu Sans"/>
              </a:rPr>
              <a:t>pass@K depends on</a:t>
            </a:r>
            <a:br/>
            <a:r>
              <a:rPr sz="1400" b="1">
                <a:solidFill>
                  <a:srgbClr val="FFFFFF"/>
                </a:solidFill>
                <a:latin typeface="DejaVu Sans"/>
              </a:rPr>
              <a:t>per-draw correctness—</a:t>
            </a:r>
            <a:br/>
            <a:r>
              <a:rPr sz="1400" b="1">
                <a:solidFill>
                  <a:srgbClr val="FFFFFF"/>
                </a:solidFill>
                <a:latin typeface="DejaVu Sans"/>
              </a:rPr>
              <a:t>not how correct mass</a:t>
            </a:r>
            <a:br/>
            <a:r>
              <a:rPr sz="1400" b="1">
                <a:solidFill>
                  <a:srgbClr val="FFFFFF"/>
                </a:solidFill>
                <a:latin typeface="DejaVu Sans"/>
              </a:rPr>
              <a:t>is split across modes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6601968"/>
            <a:ext cx="11109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617083"/>
                </a:solidFill>
                <a:latin typeface="DejaVu Sans"/>
              </a:rPr>
              <a:t>Interpretation: support retention is the headline claim; downstream utility needs a secondary selector/task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19456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8766E"/>
                </a:solidFill>
                <a:latin typeface="DejaVu Sans"/>
              </a:rPr>
              <a:t>MODE COLLAPSE UNDER GRPO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28832" y="201168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17083"/>
                </a:solidFill>
                <a:latin typeface="DejaVu San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75488"/>
            <a:ext cx="1120140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15263D"/>
                </a:solidFill>
                <a:latin typeface="DejaVu Sans"/>
              </a:rPr>
              <a:t>The excess-breadth effect persists through training where it is present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87552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17083"/>
                </a:solidFill>
                <a:latin typeface="DejaVu Sans"/>
              </a:rPr>
              <a:t>Qwen2.5-0.5B full-trajectory normalized AUC; five paired seeds per domain.</a:t>
            </a:r>
          </a:p>
        </p:txBody>
      </p:sp>
      <p:pic>
        <p:nvPicPr>
          <p:cNvPr id="7" name="Picture 6" descr="sustained_auc_effe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2198210"/>
            <a:ext cx="11210544" cy="32113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912" y="6601968"/>
            <a:ext cx="11109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617083"/>
                </a:solidFill>
                <a:latin typeface="DejaVu Sans"/>
              </a:rPr>
              <a:t>Graph, Countdown, and Pantry adjusted-breadth AUC intervals exclude zero; Python and MathIR chiefly track accuracy rescue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19456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8766E"/>
                </a:solidFill>
                <a:latin typeface="DejaVu Sans"/>
              </a:rPr>
              <a:t>MODE COLLAPSE UNDER GRPO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28832" y="201168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17083"/>
                </a:solidFill>
                <a:latin typeface="DejaVu San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75488"/>
            <a:ext cx="1120140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15263D"/>
                </a:solidFill>
                <a:latin typeface="DejaVu Sans"/>
              </a:rPr>
              <a:t>The mechanism is small, recurrent, and measurable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87552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17083"/>
                </a:solidFill>
                <a:latin typeface="DejaVu Sans"/>
              </a:rPr>
              <a:t>The bank is not a giant offline corpus—it is prompt-local, validator-positive, and continuously revisited.</a:t>
            </a:r>
          </a:p>
        </p:txBody>
      </p:sp>
      <p:pic>
        <p:nvPicPr>
          <p:cNvPr id="7" name="Picture 6" descr="replay_mechanism_teleme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2296535"/>
            <a:ext cx="11247120" cy="3023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912" y="6601968"/>
            <a:ext cx="11109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617083"/>
                </a:solidFill>
                <a:latin typeface="DejaVu Sans"/>
              </a:rPr>
              <a:t>Qwen2.5-0.5B telemetry · 25 replay + 25 exact-zero control logs · timing is descriptive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19456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8766E"/>
                </a:solidFill>
                <a:latin typeface="DejaVu Sans"/>
              </a:rPr>
              <a:t>MODE COLLAPSE UNDER GRPO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28832" y="201168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17083"/>
                </a:solidFill>
                <a:latin typeface="DejaVu San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75488"/>
            <a:ext cx="1120140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15263D"/>
                </a:solidFill>
                <a:latin typeface="DejaVu Sans"/>
              </a:rPr>
              <a:t>Generic alternatives do not show uniform retention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87552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17083"/>
                </a:solidFill>
                <a:latin typeface="DejaVu Sans"/>
              </a:rPr>
              <a:t>Complete smaller-model correctness-adjusted breadth effects against the same matched Dr.GRPO baseline.</a:t>
            </a:r>
          </a:p>
        </p:txBody>
      </p:sp>
      <p:pic>
        <p:nvPicPr>
          <p:cNvPr id="7" name="Picture 6" descr="direct_comparator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2431386"/>
            <a:ext cx="11228832" cy="26901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912" y="6601968"/>
            <a:ext cx="11109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617083"/>
                </a:solidFill>
                <a:latin typeface="DejaVu Sans"/>
              </a:rPr>
              <a:t>GRPO, UCPO, and RLEP-Dr are heterogeneous; RLEP-Dr Falcon Python is n=2 and omitted from the n=5 heatmap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19456"/>
            <a:ext cx="5760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8766E"/>
                </a:solidFill>
                <a:latin typeface="DejaVu Sans"/>
              </a:rPr>
              <a:t>MODE COLLAPSE UNDER GRPO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28832" y="201168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17083"/>
                </a:solidFill>
                <a:latin typeface="DejaVu San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75488"/>
            <a:ext cx="1120140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15263D"/>
                </a:solidFill>
                <a:latin typeface="DejaVu Sans"/>
              </a:rPr>
              <a:t>The clean claim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87552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17083"/>
                </a:solidFill>
                <a:latin typeface="DejaVu Sans"/>
              </a:rPr>
              <a:t>A narrow, defensible result is more memorable than a catalogue of experiments.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5431536" cy="4434840"/>
          </a:xfrm>
          <a:prstGeom prst="roundRect">
            <a:avLst/>
          </a:prstGeom>
          <a:solidFill>
            <a:srgbClr val="BF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737360"/>
            <a:ext cx="4800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8766E"/>
                </a:solidFill>
                <a:latin typeface="DejaVu Sans"/>
              </a:rPr>
              <a:t>ESTABLISHED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212848"/>
            <a:ext cx="4773168" cy="3127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</a:pPr>
            <a:r>
              <a:rPr sz="1450">
                <a:solidFill>
                  <a:srgbClr val="08766E"/>
                </a:solidFill>
                <a:latin typeface="DejaVu Sans"/>
              </a:rPr>
              <a:t>●  </a:t>
            </a:r>
            <a:r>
              <a:rPr sz="1650" b="1">
                <a:solidFill>
                  <a:srgbClr val="15263D"/>
                </a:solidFill>
                <a:latin typeface="DejaVu Sans"/>
              </a:rPr>
              <a:t>ModeBench measures </a:t>
            </a:r>
            <a:r>
              <a:rPr sz="1650">
                <a:solidFill>
                  <a:srgbClr val="617083"/>
                </a:solidFill>
                <a:latin typeface="DejaVu Sans"/>
              </a:rPr>
              <a:t>execution-defined verified support.</a:t>
            </a:r>
          </a:p>
          <a:p>
            <a:pPr>
              <a:spcAft>
                <a:spcPts val="1100"/>
              </a:spcAft>
            </a:pPr>
            <a:r>
              <a:rPr sz="1450">
                <a:solidFill>
                  <a:srgbClr val="08766E"/>
                </a:solidFill>
                <a:latin typeface="DejaVu Sans"/>
              </a:rPr>
              <a:t>●  </a:t>
            </a:r>
            <a:r>
              <a:rPr sz="1650" b="1">
                <a:solidFill>
                  <a:srgbClr val="15263D"/>
                </a:solidFill>
                <a:latin typeface="DejaVu Sans"/>
              </a:rPr>
              <a:t>ReplayDr.GRPO protects </a:t>
            </a:r>
            <a:r>
              <a:rPr sz="1650">
                <a:solidFill>
                  <a:srgbClr val="617083"/>
                </a:solidFill>
                <a:latin typeface="DejaVu Sans"/>
              </a:rPr>
              <a:t>discovered banked modes post-discovery.</a:t>
            </a:r>
          </a:p>
          <a:p>
            <a:pPr>
              <a:spcAft>
                <a:spcPts val="1100"/>
              </a:spcAft>
            </a:pPr>
            <a:r>
              <a:rPr sz="1450">
                <a:solidFill>
                  <a:srgbClr val="08766E"/>
                </a:solidFill>
                <a:latin typeface="DejaVu Sans"/>
              </a:rPr>
              <a:t>●  </a:t>
            </a:r>
            <a:r>
              <a:rPr sz="1650" b="1">
                <a:solidFill>
                  <a:srgbClr val="15263D"/>
                </a:solidFill>
                <a:latin typeface="DejaVu Sans"/>
              </a:rPr>
              <a:t>Replay is broader </a:t>
            </a:r>
            <a:r>
              <a:rPr sz="1650">
                <a:solidFill>
                  <a:srgbClr val="617083"/>
                </a:solidFill>
                <a:latin typeface="DejaVu Sans"/>
              </a:rPr>
              <a:t>in all 75 / 75 primary paired runs.</a:t>
            </a:r>
          </a:p>
          <a:p>
            <a:pPr>
              <a:spcAft>
                <a:spcPts val="1100"/>
              </a:spcAft>
            </a:pPr>
            <a:r>
              <a:rPr sz="1450">
                <a:solidFill>
                  <a:srgbClr val="08766E"/>
                </a:solidFill>
                <a:latin typeface="DejaVu Sans"/>
              </a:rPr>
              <a:t>●  </a:t>
            </a:r>
            <a:r>
              <a:rPr sz="1650" b="1">
                <a:solidFill>
                  <a:srgbClr val="15263D"/>
                </a:solidFill>
                <a:latin typeface="DejaVu Sans"/>
              </a:rPr>
              <a:t>The evidence separates </a:t>
            </a:r>
            <a:r>
              <a:rPr sz="1650">
                <a:solidFill>
                  <a:srgbClr val="617083"/>
                </a:solidFill>
                <a:latin typeface="DejaVu Sans"/>
              </a:rPr>
              <a:t>raw breadth, correctness, and excess breadth.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417320"/>
            <a:ext cx="5431536" cy="4434840"/>
          </a:xfrm>
          <a:prstGeom prst="roundRect">
            <a:avLst/>
          </a:prstGeom>
          <a:solidFill>
            <a:srgbClr val="F5D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800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25B55"/>
                </a:solidFill>
                <a:latin typeface="DejaVu Sans"/>
              </a:rPr>
              <a:t>OPEN / NOT CLAIMED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3096" y="2212848"/>
            <a:ext cx="4754880" cy="3127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</a:pPr>
            <a:r>
              <a:rPr sz="1450">
                <a:solidFill>
                  <a:srgbClr val="E25B55"/>
                </a:solidFill>
                <a:latin typeface="DejaVu Sans"/>
              </a:rPr>
              <a:t>●  </a:t>
            </a:r>
            <a:r>
              <a:rPr sz="1650" b="1">
                <a:solidFill>
                  <a:srgbClr val="15263D"/>
                </a:solidFill>
                <a:latin typeface="DejaVu Sans"/>
              </a:rPr>
              <a:t>No automatic utility gain: </a:t>
            </a:r>
            <a:r>
              <a:rPr sz="1650">
                <a:solidFill>
                  <a:srgbClr val="617083"/>
                </a:solidFill>
                <a:latin typeface="DejaVu Sans"/>
              </a:rPr>
              <a:t>breadth needs a secondary selector.</a:t>
            </a:r>
          </a:p>
          <a:p>
            <a:pPr>
              <a:spcAft>
                <a:spcPts val="1100"/>
              </a:spcAft>
            </a:pPr>
            <a:r>
              <a:rPr sz="1450">
                <a:solidFill>
                  <a:srgbClr val="E25B55"/>
                </a:solidFill>
                <a:latin typeface="DejaVu Sans"/>
              </a:rPr>
              <a:t>●  </a:t>
            </a:r>
            <a:r>
              <a:rPr sz="1650" b="1">
                <a:solidFill>
                  <a:srgbClr val="15263D"/>
                </a:solidFill>
                <a:latin typeface="DejaVu Sans"/>
              </a:rPr>
              <a:t>No unseen-mode recovery: </a:t>
            </a:r>
            <a:r>
              <a:rPr sz="1650">
                <a:solidFill>
                  <a:srgbClr val="617083"/>
                </a:solidFill>
                <a:latin typeface="DejaVu Sans"/>
              </a:rPr>
              <a:t>replay protects only discovered modes.</a:t>
            </a:r>
          </a:p>
          <a:p>
            <a:pPr>
              <a:spcAft>
                <a:spcPts val="1100"/>
              </a:spcAft>
            </a:pPr>
            <a:r>
              <a:rPr sz="1450">
                <a:solidFill>
                  <a:srgbClr val="E25B55"/>
                </a:solidFill>
                <a:latin typeface="DejaVu Sans"/>
              </a:rPr>
              <a:t>●  </a:t>
            </a:r>
            <a:r>
              <a:rPr sz="1650" b="1">
                <a:solidFill>
                  <a:srgbClr val="15263D"/>
                </a:solidFill>
                <a:latin typeface="DejaVu Sans"/>
              </a:rPr>
              <a:t>No broad natural-task claim: </a:t>
            </a:r>
            <a:r>
              <a:rPr sz="1650">
                <a:solidFill>
                  <a:srgbClr val="617083"/>
                </a:solidFill>
                <a:latin typeface="DejaVu Sans"/>
              </a:rPr>
              <a:t>current tasks are synthetic exact-mode domains.</a:t>
            </a:r>
          </a:p>
          <a:p>
            <a:pPr>
              <a:spcAft>
                <a:spcPts val="1100"/>
              </a:spcAft>
            </a:pPr>
            <a:r>
              <a:rPr sz="1450">
                <a:solidFill>
                  <a:srgbClr val="E25B55"/>
                </a:solidFill>
                <a:latin typeface="DejaVu Sans"/>
              </a:rPr>
              <a:t>●  </a:t>
            </a:r>
            <a:r>
              <a:rPr sz="1650" b="1">
                <a:solidFill>
                  <a:srgbClr val="15263D"/>
                </a:solidFill>
                <a:latin typeface="DejaVu Sans"/>
              </a:rPr>
              <a:t>No Semantic-MaxEnt efficacy claim: </a:t>
            </a:r>
            <a:r>
              <a:rPr sz="1650">
                <a:solidFill>
                  <a:srgbClr val="617083"/>
                </a:solidFill>
                <a:latin typeface="DejaVu Sans"/>
              </a:rPr>
              <a:t>mechanism validation is separate.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6016752"/>
            <a:ext cx="10186416" cy="411480"/>
          </a:xfrm>
          <a:prstGeom prst="roundRect">
            <a:avLst/>
          </a:prstGeom>
          <a:solidFill>
            <a:srgbClr val="15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6099048"/>
            <a:ext cx="982065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DejaVu Sans"/>
              </a:rPr>
              <a:t>Binary reward can solve the task—and still destroy the proposal set. Retain modes you may need later.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6601968"/>
            <a:ext cx="11109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617083"/>
                </a:solidFill>
                <a:latin typeface="DejaVu Sans"/>
              </a:rPr>
              <a:t>Bottom line: support retention—not pooled efficacy, model-size scaling, or downstream utility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When Eight Samples Become Eight Copies</dc:title>
  <dc:subject>Story-first presentation of Mode Collapse under GRPO and ReplayDr.GRPO</dc:subject>
  <dc:creator>Anonymous Authors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