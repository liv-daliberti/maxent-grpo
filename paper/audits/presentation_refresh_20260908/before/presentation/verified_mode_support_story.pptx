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Binary-reward RL can solve the task while silently erasing the set of solutions we may need at inference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Both terminal policies are 32/32 correct. Binary evaluation calls them equal; executed mode identity reveals that one collapsed to a single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To train against collapse, the evaluator must identify which successful execution occurred—not merely whether the answer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Equal reward does not produce equal pressure. Frequent correct modes appear in more sampled updates; absent modes receive no gradient. Replay changes that asymmetry after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Retention and discovery are distinct bottlenecks. Replay revisits known keys uniformly; verified-support Semantic-MaxEnt creates bounded pressure toward rare validator-confirmed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retention test is complete and confirmatory. The discovery test is a smaller exploratory bundled contrast. Keeping those evidential roles separate is central to the clean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the clean headline. Every paired seed at every scale and domain has more raw verified outcomes under replay than under the matched control. Do not pool across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Raw breadth is uniformly higher, but not every gain is independent of correctness. Distance above the diagonal is the extra-support effect. This distinction makes the claim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a bundled exploratory extension, not the 75-pair core. Mean adjusted breadth is positive at both analyzed scales, driven most clearly by Pantry and Falcon Python; most domain intervals cross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The contribution is not an experiment catalogue. It is one execution key used to expose collapse, retain discovered support, and test a verified discovery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Use if asked whether ordinary GRPO, UCPO, or generic verified-success replay reproduces the effect. Complete smaller-model adjusted-breadth blocks are heterogeneous.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Full-trajectory normalized AUC confirms that Graph, Countdown, and Pantry effects are not terminal-checkpoint accidents at Qwen2.5-0.5B.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The replay bank is prompt-local and small. Capacity rarely binds. Optimizer timing is descriptive, not an inferential compute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8766E"/>
                </a:solidFill>
                <a:latin typeface="DejaVu Sans"/>
              </a:rPr>
              <a:t>VERIFIED MODE SUPPORT IN RLVR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7040880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3800" b="1">
                <a:solidFill>
                  <a:srgbClr val="15263D"/>
                </a:solidFill>
                <a:latin typeface="DejaVu Sans"/>
              </a:rPr>
              <a:t>When eight samples</a:t>
            </a:r>
            <a:br/>
            <a:r>
              <a:rPr sz="3800" b="1">
                <a:solidFill>
                  <a:srgbClr val="15263D"/>
                </a:solidFill>
                <a:latin typeface="DejaVu Sans"/>
              </a:rPr>
              <a:t>become eight copies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79776"/>
            <a:ext cx="667512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617083"/>
                </a:solidFill>
                <a:latin typeface="DejaVu Sans"/>
              </a:rPr>
              <a:t>Measuring—and preserving—the support hidden by binary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67912"/>
            <a:ext cx="66751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8766E"/>
                </a:solidFill>
                <a:latin typeface="DejaVu Sans"/>
              </a:rPr>
              <a:t>THESIS  </a:t>
            </a:r>
            <a:r>
              <a:rPr sz="1700" b="1">
                <a:solidFill>
                  <a:srgbClr val="15263D"/>
                </a:solidFill>
                <a:latin typeface="DejaVu Sans"/>
              </a:rPr>
              <a:t>Correctness can rise while useful proposal support collapses.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572000"/>
            <a:ext cx="621792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6D4AE5"/>
                </a:solidFill>
                <a:latin typeface="DejaVu Sans"/>
              </a:rPr>
              <a:t>Measure  →  Retain  →  Discover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8887968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9546336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10204704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04704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8887968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8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6</a:t>
            </a:r>
          </a:p>
        </p:txBody>
      </p:sp>
      <p:sp>
        <p:nvSpPr>
          <p:cNvPr id="20" name="Oval 19"/>
          <p:cNvSpPr/>
          <p:nvPr/>
        </p:nvSpPr>
        <p:spPr>
          <a:xfrm>
            <a:off x="9546336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46336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7</a:t>
            </a:r>
          </a:p>
        </p:txBody>
      </p:sp>
      <p:sp>
        <p:nvSpPr>
          <p:cNvPr id="22" name="Oval 21"/>
          <p:cNvSpPr/>
          <p:nvPr/>
        </p:nvSpPr>
        <p:spPr>
          <a:xfrm>
            <a:off x="10204704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04704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58200" y="1536192"/>
            <a:ext cx="1188720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16568" y="1536192"/>
            <a:ext cx="530352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646920" y="1536192"/>
            <a:ext cx="128016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646920" y="1536192"/>
            <a:ext cx="786384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58200" y="2249424"/>
            <a:ext cx="1188720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16568" y="2249424"/>
            <a:ext cx="530352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646920" y="2249424"/>
            <a:ext cx="128016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646920" y="2249424"/>
            <a:ext cx="786384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924544" y="3429000"/>
            <a:ext cx="1417320" cy="1417320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4544" y="3438144"/>
            <a:ext cx="1417320" cy="1399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95" b="1">
                <a:solidFill>
                  <a:srgbClr val="FFFFFF"/>
                </a:solidFill>
                <a:latin typeface="DejaVu Sans"/>
              </a:rPr>
              <a:t>1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2724912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617083"/>
                </a:solidFill>
                <a:latin typeface="DejaVu Sans"/>
              </a:rPr>
              <a:t>8 nominal attempts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144768"/>
            <a:ext cx="4114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17083"/>
                </a:solidFill>
                <a:latin typeface="DejaVu Sans"/>
              </a:rPr>
              <a:t>Anonymous Authors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Accuracy can look perfect while support disappears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A mechanically selected Qwen2.5-3B Graph Coloring pair: both arms remain 32 / 32 correct.</a:t>
            </a:r>
          </a:p>
        </p:txBody>
      </p:sp>
      <p:pic>
        <p:nvPicPr>
          <p:cNvPr id="7" name="Picture 6" descr="paper_modecollapse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83871"/>
            <a:ext cx="11201400" cy="4007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" y="5650992"/>
            <a:ext cx="10972800" cy="667512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815584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DejaVu Sans"/>
              </a:rPr>
              <a:t>Matched Dr.GRPO: </a:t>
            </a:r>
            <a:r>
              <a:rPr sz="1700" b="1">
                <a:solidFill>
                  <a:srgbClr val="F5D2CE"/>
                </a:solidFill>
                <a:latin typeface="DejaVu Sans"/>
              </a:rPr>
              <a:t>4 → 1 observed modes</a:t>
            </a:r>
            <a:r>
              <a:rPr sz="1700" b="1">
                <a:solidFill>
                  <a:srgbClr val="FFFFFF"/>
                </a:solidFill>
                <a:latin typeface="DejaVu Sans"/>
              </a:rPr>
              <a:t>     ReplayDr.GRPO: </a:t>
            </a:r>
            <a:r>
              <a:rPr sz="1700" b="1">
                <a:solidFill>
                  <a:srgbClr val="BFE7E2"/>
                </a:solidFill>
                <a:latin typeface="DejaVu Sans"/>
              </a:rPr>
              <a:t>4 → 5 observed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paper Figure 1 · fixed-seed illustration; registered paired estimates follow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Binary correctness hides answer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ModeBench uses the accepting execution to return a canonical outcome key.</a:t>
            </a:r>
          </a:p>
        </p:txBody>
      </p:sp>
      <p:pic>
        <p:nvPicPr>
          <p:cNvPr id="7" name="Picture 6" descr="paper_modebench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47287"/>
            <a:ext cx="9006840" cy="43223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19488" y="1417320"/>
            <a:ext cx="2121408" cy="452628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38944" y="1700784"/>
            <a:ext cx="16916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DejaVu Sans"/>
              </a:rPr>
              <a:t>Two metrics,</a:t>
            </a:r>
            <a:br/>
            <a:r>
              <a:rPr sz="1800" b="1">
                <a:solidFill>
                  <a:srgbClr val="FFFFFF"/>
                </a:solidFill>
                <a:latin typeface="DejaVu Sans"/>
              </a:rPr>
              <a:t>two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8088" y="2615184"/>
            <a:ext cx="16642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E7E2"/>
                </a:solidFill>
                <a:latin typeface="DejaVu Sans"/>
              </a:rPr>
              <a:t>pass@8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8088" y="2999232"/>
            <a:ext cx="1664208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DejaVu Sans"/>
              </a:rPr>
              <a:t>Did any sample</a:t>
            </a:r>
            <a:br/>
            <a:r>
              <a:rPr sz="1300" b="0">
                <a:solidFill>
                  <a:srgbClr val="FFFFFF"/>
                </a:solidFill>
                <a:latin typeface="DejaVu Sans"/>
              </a:rPr>
              <a:t>succeed?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6648" y="3867912"/>
            <a:ext cx="184708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DDD4FA"/>
                </a:solidFill>
                <a:latin typeface="DejaVu Sans"/>
              </a:rPr>
              <a:t>distinct@8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4936" y="4251960"/>
            <a:ext cx="1810512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DejaVu Sans"/>
              </a:rPr>
              <a:t>How many different</a:t>
            </a:r>
            <a:br/>
            <a:r>
              <a:rPr sz="1300" b="0">
                <a:solidFill>
                  <a:srgbClr val="FFFFFF"/>
                </a:solidFill>
                <a:latin typeface="DejaVu Sans"/>
              </a:rPr>
              <a:t>verified outcomes?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5184648"/>
            <a:ext cx="16916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5D2CE"/>
                </a:solidFill>
                <a:latin typeface="DejaVu Sans"/>
              </a:rPr>
              <a:t>Token entropy cannot answer the second question.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paper Figure 2 · execution-defined keys; no text clustering or gold mode catalogue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Why GRPO concentrates correct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Equal binary reward does not imply equal learning pressure across correct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389888"/>
            <a:ext cx="5440680" cy="4434840"/>
          </a:xfrm>
          <a:prstGeom prst="roundRect">
            <a:avLst/>
          </a:prstGeom>
          <a:solidFill>
            <a:srgbClr val="F5D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73352"/>
            <a:ext cx="4937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E25B55"/>
                </a:solidFill>
                <a:latin typeface="DejaVu Sans"/>
              </a:rPr>
              <a:t>ON-POLICY BINARY REWARD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84248"/>
            <a:ext cx="4937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5263D"/>
                </a:solidFill>
                <a:latin typeface="DejaVu Sans"/>
              </a:rPr>
              <a:t>Sampled winners get reinforced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98064"/>
            <a:ext cx="658368" cy="658368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2423160" y="2798064"/>
            <a:ext cx="658368" cy="65836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3840480" y="2798064"/>
            <a:ext cx="658368" cy="658368"/>
          </a:xfrm>
          <a:prstGeom prst="ellipse">
            <a:avLst/>
          </a:prstGeom>
          <a:solidFill>
            <a:srgbClr val="D39B3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35024" y="3529584"/>
            <a:ext cx="1024128" cy="786384"/>
          </a:xfrm>
          <a:prstGeom prst="line">
            <a:avLst/>
          </a:prstGeom>
          <a:ln w="25400">
            <a:solidFill>
              <a:srgbClr val="E25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33472" y="3529584"/>
            <a:ext cx="118872" cy="786384"/>
          </a:xfrm>
          <a:prstGeom prst="line">
            <a:avLst/>
          </a:prstGeom>
          <a:ln w="17780">
            <a:solidFill>
              <a:srgbClr val="DCE2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907792" y="3529584"/>
            <a:ext cx="1261871" cy="786384"/>
          </a:xfrm>
          <a:prstGeom prst="line">
            <a:avLst/>
          </a:prstGeom>
          <a:ln w="17780">
            <a:solidFill>
              <a:srgbClr val="DCE2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993392" y="4233672"/>
            <a:ext cx="1280160" cy="1280160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93392" y="4242816"/>
            <a:ext cx="1280160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6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82896"/>
            <a:ext cx="466344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25B55"/>
                </a:solidFill>
                <a:latin typeface="DejaVu Sans"/>
              </a:rPr>
              <a:t>A correct mode absent from the sampled group receives no update.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1389888"/>
            <a:ext cx="5440680" cy="4434840"/>
          </a:xfrm>
          <a:prstGeom prst="roundRect">
            <a:avLst/>
          </a:prstGeom>
          <a:solidFill>
            <a:srgbClr val="B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1673352"/>
            <a:ext cx="4937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8766E"/>
                </a:solidFill>
                <a:latin typeface="DejaVu Sans"/>
              </a:rPr>
              <a:t>RECURRENT VERIFIED REPLAY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84248"/>
            <a:ext cx="4937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5263D"/>
                </a:solidFill>
                <a:latin typeface="DejaVu Sans"/>
              </a:rPr>
              <a:t>Every banked mode keeps a gradient</a:t>
            </a:r>
          </a:p>
        </p:txBody>
      </p:sp>
      <p:sp>
        <p:nvSpPr>
          <p:cNvPr id="25" name="Oval 24"/>
          <p:cNvSpPr/>
          <p:nvPr/>
        </p:nvSpPr>
        <p:spPr>
          <a:xfrm>
            <a:off x="6748272" y="2798064"/>
            <a:ext cx="658368" cy="658368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77456" y="3529584"/>
            <a:ext cx="566927" cy="786384"/>
          </a:xfrm>
          <a:prstGeom prst="line">
            <a:avLst/>
          </a:prstGeom>
          <a:ln w="25400">
            <a:solidFill>
              <a:srgbClr val="08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269480" y="4261104"/>
            <a:ext cx="713232" cy="71323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4270248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8165592" y="2798064"/>
            <a:ext cx="658368" cy="65836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B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394192" y="3529584"/>
            <a:ext cx="100584" cy="786384"/>
          </a:xfrm>
          <a:prstGeom prst="line">
            <a:avLst/>
          </a:prstGeom>
          <a:ln w="25400">
            <a:solidFill>
              <a:srgbClr val="08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019288" y="4261104"/>
            <a:ext cx="713232" cy="71323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9288" y="4270248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B</a:t>
            </a:r>
          </a:p>
        </p:txBody>
      </p:sp>
      <p:sp>
        <p:nvSpPr>
          <p:cNvPr id="35" name="Oval 34"/>
          <p:cNvSpPr/>
          <p:nvPr/>
        </p:nvSpPr>
        <p:spPr>
          <a:xfrm>
            <a:off x="9582912" y="2798064"/>
            <a:ext cx="658368" cy="658368"/>
          </a:xfrm>
          <a:prstGeom prst="ellipse">
            <a:avLst/>
          </a:prstGeom>
          <a:solidFill>
            <a:srgbClr val="D39B3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82912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C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9144000" y="3529584"/>
            <a:ext cx="768096" cy="786384"/>
          </a:xfrm>
          <a:prstGeom prst="line">
            <a:avLst/>
          </a:prstGeom>
          <a:ln w="25400">
            <a:solidFill>
              <a:srgbClr val="08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769096" y="4261104"/>
            <a:ext cx="713232" cy="713232"/>
          </a:xfrm>
          <a:prstGeom prst="ellipse">
            <a:avLst/>
          </a:prstGeom>
          <a:solidFill>
            <a:srgbClr val="D39B3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9096" y="4270248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4828032"/>
            <a:ext cx="4800600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8766E"/>
                </a:solidFill>
                <a:latin typeface="DejaVu Sans"/>
              </a:rPr>
              <a:t>Post-discovery guarantee: recurrent positive replay prevents banked-mode extinction.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Theory boundary: fixed-bank categorical assumptions; protects discovered, verified, retained modes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One execution key repairs two different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Retain what the policy has found; add verified pressure toward what it still misses.</a:t>
            </a:r>
          </a:p>
        </p:txBody>
      </p:sp>
      <p:pic>
        <p:nvPicPr>
          <p:cNvPr id="7" name="Picture 6" descr="paper_verified_replay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69" y="1335024"/>
            <a:ext cx="10373756" cy="44256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" y="5833872"/>
            <a:ext cx="10972800" cy="438912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934456"/>
            <a:ext cx="105156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BFE7E2"/>
                </a:solidFill>
                <a:latin typeface="DejaVu Sans"/>
              </a:rPr>
              <a:t>RETENTION  </a:t>
            </a:r>
            <a:r>
              <a:rPr sz="1350" b="0">
                <a:solidFill>
                  <a:srgbClr val="FFFFFF"/>
                </a:solidFill>
                <a:latin typeface="DejaVu Sans"/>
              </a:rPr>
              <a:t>one exemplar per key + uniform replay</a:t>
            </a:r>
            <a:r>
              <a:rPr sz="1350" b="1">
                <a:solidFill>
                  <a:srgbClr val="DDD4FA"/>
                </a:solidFill>
                <a:latin typeface="DejaVu Sans"/>
              </a:rPr>
              <a:t>     DISCOVERY  </a:t>
            </a:r>
            <a:r>
              <a:rPr sz="1350" b="0">
                <a:solidFill>
                  <a:srgbClr val="FFFFFF"/>
                </a:solidFill>
                <a:latin typeface="DejaVu Sans"/>
              </a:rPr>
              <a:t>verified proposals + bounded rarity 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Both paths use validator-confirmed keys · no unseen-mode oracle or gold support catalogue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Two questions, two matched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The deck keeps the confirmatory retention result separate from the exploratory discovery extension.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99032"/>
            <a:ext cx="11137392" cy="1993392"/>
          </a:xfrm>
          <a:prstGeom prst="roundRect">
            <a:avLst/>
          </a:prstGeom>
          <a:solidFill>
            <a:srgbClr val="B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55064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8766E"/>
                </a:solidFill>
                <a:latin typeface="DejaVu Sans"/>
              </a:rPr>
              <a:t>RETENTION · CONFIRMATORY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93392"/>
            <a:ext cx="48463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5263D"/>
                </a:solidFill>
                <a:latin typeface="DejaVu Sans"/>
              </a:rPr>
              <a:t>Does uniform mode replay preserve what was found?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51176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766E"/>
                </a:solidFill>
                <a:latin typeface="DejaVu Sans"/>
              </a:rPr>
              <a:t>ReplayDr.GRPO  −  matched Dr.GRPO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773936"/>
            <a:ext cx="3886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5263D"/>
                </a:solidFill>
                <a:latin typeface="DejaVu Sans"/>
              </a:rPr>
              <a:t>3 models  ×  5 domains  ×  5 paired seeds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0072" y="1572768"/>
            <a:ext cx="14173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08766E"/>
                </a:solidFill>
                <a:latin typeface="DejaVu Sans"/>
              </a:rPr>
              <a:t>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286000"/>
            <a:ext cx="15727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5263D"/>
                </a:solidFill>
                <a:latin typeface="DejaVu Sans"/>
              </a:rPr>
              <a:t>terminal 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487168"/>
            <a:ext cx="3794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Complete at n=5 in every model–domain cell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621024"/>
            <a:ext cx="11137392" cy="2011680"/>
          </a:xfrm>
          <a:prstGeom prst="roundRect">
            <a:avLst/>
          </a:prstGeom>
          <a:solidFill>
            <a:srgbClr val="DD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77056"/>
            <a:ext cx="29260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D4AE5"/>
                </a:solidFill>
                <a:latin typeface="DejaVu Sans"/>
              </a:rPr>
              <a:t>DISCOVERY · EXPLORATORY BUNDLE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15384"/>
            <a:ext cx="48463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5263D"/>
                </a:solidFill>
                <a:latin typeface="DejaVu Sans"/>
              </a:rPr>
              <a:t>Can verified discovery add support beyond replay?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73168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4AE5"/>
                </a:solidFill>
                <a:latin typeface="DejaVu Sans"/>
              </a:rPr>
              <a:t>Semantic-MaxEnt + replay  −  replay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3968496"/>
            <a:ext cx="3886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5263D"/>
                </a:solidFill>
                <a:latin typeface="DejaVu Sans"/>
              </a:rPr>
              <a:t>2 scales  ×  5 domains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72" y="3767328"/>
            <a:ext cx="14173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6D4AE5"/>
                </a:solidFill>
                <a:latin typeface="DejaVu Sans"/>
              </a:rPr>
              <a:t>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4480560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5263D"/>
                </a:solidFill>
                <a:latin typeface="DejaVu Sans"/>
              </a:rPr>
              <a:t>matched 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700016"/>
            <a:ext cx="384048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30" b="1">
                <a:solidFill>
                  <a:srgbClr val="617083"/>
                </a:solidFill>
                <a:latin typeface="DejaVu Sans"/>
              </a:rPr>
              <a:t>15 / 15 invariant-valid · 11 / 15 complete the full mechanism chain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" y="5925312"/>
            <a:ext cx="10296144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6007608"/>
            <a:ext cx="99120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17083"/>
                </a:solidFill>
                <a:latin typeface="DejaVu Sans"/>
              </a:rPr>
              <a:t>Same prompts and paired initialization · report pass@8, distinct@8, and distinct@8 − pass@8 · no model/domain pooling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Evidence roles are explicit: 75-pair retention core; 49-endpoint discovery bundle; Qwen3B discovery not analyzed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Retention is the strongest result: 75 / 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Replay raises terminal distinct@8 for every paired seed at every model scale.</a:t>
            </a:r>
          </a:p>
        </p:txBody>
      </p:sp>
      <p:pic>
        <p:nvPicPr>
          <p:cNvPr id="7" name="Picture 6" descr="headline_75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56070"/>
            <a:ext cx="11247120" cy="32956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cross_scale_terminal_endpoint_effects.json · no domain pooling; paired n=5 within each cell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The honest split: extra support vs. accuracy rescue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Distance above the diagonal is Δdistinct@8 − Δpass@8: verified modes beyond the first success.</a:t>
            </a:r>
          </a:p>
        </p:txBody>
      </p:sp>
      <p:pic>
        <p:nvPicPr>
          <p:cNvPr id="7" name="Picture 6" descr="accuracy_vs_breadth_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823777"/>
            <a:ext cx="8083296" cy="40242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14816" y="1572768"/>
            <a:ext cx="2834640" cy="4334256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89136" y="1874519"/>
            <a:ext cx="23042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FE7E2"/>
                </a:solidFill>
                <a:latin typeface="DejaVu Sans"/>
              </a:rPr>
              <a:t>RAW BREADTH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9136" y="2194560"/>
            <a:ext cx="230428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DejaVu Sans"/>
              </a:rPr>
              <a:t>75 / 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9136" y="2743200"/>
            <a:ext cx="230428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DejaVu Sans"/>
              </a:rPr>
              <a:t>paired runs improve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9136" y="3410712"/>
            <a:ext cx="23042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DDD4FA"/>
                </a:solidFill>
                <a:latin typeface="DejaVu Sans"/>
              </a:rPr>
              <a:t>BEYOND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1704" y="3749039"/>
            <a:ext cx="23591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DejaVu Sans"/>
              </a:rPr>
              <a:t>Graph · Countdown · Pantry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9136" y="4279392"/>
            <a:ext cx="2304288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BFE7E2"/>
                </a:solidFill>
                <a:latin typeface="DejaVu Sans"/>
              </a:rPr>
              <a:t>positive domain intervals</a:t>
            </a:r>
            <a:br/>
            <a:r>
              <a:rPr sz="1250" b="0">
                <a:solidFill>
                  <a:srgbClr val="BFE7E2"/>
                </a:solidFill>
                <a:latin typeface="DejaVu Sans"/>
              </a:rPr>
              <a:t>at both Qwen scales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5010912"/>
            <a:ext cx="2359152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5D2CE"/>
                </a:solidFill>
                <a:latin typeface="DejaVu Sans"/>
              </a:rPr>
              <a:t>Python + MathIR are chiefly accuracy rescues; adjusted effects remain unresolved.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Interpretation: replay reliably retains raw modes; independent excess breadth is domain-dependent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Discovery adds breadth beyond replay—unevenly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Verified-support Semantic-MaxEnt + replay versus replay alone; correctness-adjusted breadth after eight passes.</a:t>
            </a:r>
          </a:p>
        </p:txBody>
      </p:sp>
      <p:pic>
        <p:nvPicPr>
          <p:cNvPr id="7" name="Picture 6" descr="verified_support_discovery_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65795"/>
            <a:ext cx="8101583" cy="28579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59952" y="1517904"/>
            <a:ext cx="2889504" cy="4498848"/>
          </a:xfrm>
          <a:prstGeom prst="roundRect">
            <a:avLst/>
          </a:prstGeom>
          <a:solidFill>
            <a:srgbClr val="DD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1819656"/>
            <a:ext cx="234086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D4AE5"/>
                </a:solidFill>
                <a:latin typeface="DejaVu Sans"/>
              </a:rPr>
              <a:t>EXPLORATORY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2112264"/>
            <a:ext cx="234086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5263D"/>
                </a:solidFill>
                <a:latin typeface="DejaVu Sans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4272" y="2660904"/>
            <a:ext cx="234086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5263D"/>
                </a:solidFill>
                <a:latin typeface="DejaVu Sans"/>
              </a:rPr>
              <a:t>matched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7696" y="3182112"/>
            <a:ext cx="2423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17083"/>
                </a:solidFill>
                <a:latin typeface="DejaVu Sans"/>
              </a:rPr>
              <a:t>Mean Δ adjusted breadth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2" y="3493008"/>
            <a:ext cx="2340864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6D4AE5"/>
                </a:solidFill>
                <a:latin typeface="DejaVu Sans"/>
              </a:rPr>
              <a:t>Qwen 0.5B   +0.300</a:t>
            </a:r>
            <a:br/>
            <a:r>
              <a:rPr sz="1700" b="1">
                <a:solidFill>
                  <a:srgbClr val="6D4AE5"/>
                </a:solidFill>
                <a:latin typeface="DejaVu Sans"/>
              </a:rPr>
              <a:t>Falcon 1B     +0.217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4272" y="4398264"/>
            <a:ext cx="234086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15263D"/>
                </a:solidFill>
                <a:latin typeface="DejaVu Sans"/>
              </a:rPr>
              <a:t>11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4773168"/>
            <a:ext cx="2340864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5263D"/>
                </a:solidFill>
                <a:latin typeface="DejaVu Sans"/>
              </a:rPr>
              <a:t>cells complete proposal →</a:t>
            </a:r>
            <a:br/>
            <a:r>
              <a:rPr sz="1250" b="0">
                <a:solidFill>
                  <a:srgbClr val="15263D"/>
                </a:solidFill>
                <a:latin typeface="DejaVu Sans"/>
              </a:rPr>
              <a:t>pressure → replay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5449824"/>
            <a:ext cx="2432304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E25B55"/>
                </a:solidFill>
                <a:latin typeface="DejaVu Sans"/>
              </a:rPr>
              <a:t>Bundled contrast · Qwen3B not analyzed · most domain intervals cross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49 integrity-valid smaller-model pairs; Falcon Countdown n=4, all other cells n=5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Three takeaways—and the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The narrow version of the claim is the memorable—and defensible—version.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26464"/>
            <a:ext cx="3456432" cy="3401568"/>
          </a:xfrm>
          <a:prstGeom prst="roundRect">
            <a:avLst/>
          </a:prstGeom>
          <a:solidFill>
            <a:srgbClr val="B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19072"/>
            <a:ext cx="56692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8766E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746504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8766E"/>
                </a:solidFill>
                <a:latin typeface="DejaVu Sans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77440"/>
            <a:ext cx="2926080" cy="17007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5263D"/>
                </a:solidFill>
                <a:latin typeface="DejaVu Sans"/>
              </a:rPr>
              <a:t>Executable keys reveal support collapse that binary correctness and token entropy miss.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426464"/>
            <a:ext cx="3456432" cy="3401568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719072"/>
            <a:ext cx="56692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5263D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1746504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263D"/>
                </a:solidFill>
                <a:latin typeface="DejaVu Sans"/>
              </a:rPr>
              <a:t>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77440"/>
            <a:ext cx="2926080" cy="17007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5263D"/>
                </a:solidFill>
                <a:latin typeface="DejaVu Sans"/>
              </a:rPr>
              <a:t>Uniform verified replay raises raw breadth in all 75 / 75 primary pairs; excess breadth is domain-dependent.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426464"/>
            <a:ext cx="3456432" cy="3401568"/>
          </a:xfrm>
          <a:prstGeom prst="roundRect">
            <a:avLst/>
          </a:prstGeom>
          <a:solidFill>
            <a:srgbClr val="DD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719072"/>
            <a:ext cx="56692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6D4AE5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1746504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D4AE5"/>
                </a:solidFill>
                <a:latin typeface="DejaVu Sans"/>
              </a:rPr>
              <a:t>DISCOVER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377440"/>
            <a:ext cx="2926080" cy="17007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5263D"/>
                </a:solidFill>
                <a:latin typeface="DejaVu Sans"/>
              </a:rPr>
              <a:t>Verified-support pressure adds positive mean adjusted breadth at two scales in an exploratory 49-endpoint bundle.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5129784"/>
            <a:ext cx="10808208" cy="1024128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5340096"/>
            <a:ext cx="10287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30" b="1">
                <a:solidFill>
                  <a:srgbClr val="BFE7E2"/>
                </a:solidFill>
                <a:latin typeface="DejaVu Sans"/>
              </a:rPr>
              <a:t>CLAIM  </a:t>
            </a:r>
            <a:r>
              <a:rPr sz="1430" b="1">
                <a:solidFill>
                  <a:srgbClr val="FFFFFF"/>
                </a:solidFill>
                <a:latin typeface="DejaVu Sans"/>
              </a:rPr>
              <a:t>Executed mode identity exposes hidden collapse; verified replay retains discovered modes.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742432"/>
            <a:ext cx="102229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5D2CE"/>
                </a:solidFill>
                <a:latin typeface="DejaVu Sans"/>
              </a:rPr>
              <a:t>BOUNDARY  No automatic utility · replay cannot recover unseen modes · synthetic exact-mode tasks · discovery is bundled and exploratory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Stop here for the core talk · the remaining slides are backup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BACKUP · DIRECT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Only replay is uniform; alternatives are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Complete smaller-model correctness-adjusted breadth effects against matched Dr.GRPO.</a:t>
            </a:r>
          </a:p>
        </p:txBody>
      </p:sp>
      <p:pic>
        <p:nvPicPr>
          <p:cNvPr id="7" name="Picture 6" descr="direct_comparato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431386"/>
            <a:ext cx="11228832" cy="26901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GRPO, UCPO, and RLEP-Dr are heterogeneous; Falcon Python RLEP-Dr is n=2 and omitted from the n=5 heatmap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BACKUP ·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Where excess breadth appears, it persists through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Qwen2.5-0.5B normalized trajectory AUC; five paired seeds per domain.</a:t>
            </a:r>
          </a:p>
        </p:txBody>
      </p:sp>
      <p:pic>
        <p:nvPicPr>
          <p:cNvPr id="7" name="Picture 6" descr="sustained_auc_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198210"/>
            <a:ext cx="11210544" cy="32113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Graph, Countdown, and Pantry adjusted-breadth AUC intervals exclude zero; Python and MathIR track accuracy rescue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BACKUP · MECHANISM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The retention mechanism is small and measurable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Prompt-local banks are continuously revisited; they are not a giant offline replay corpus.</a:t>
            </a:r>
          </a:p>
        </p:txBody>
      </p:sp>
      <p:pic>
        <p:nvPicPr>
          <p:cNvPr id="7" name="Picture 6" descr="replay_mechanism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296535"/>
            <a:ext cx="11247120" cy="3023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Qwen2.5-0.5B telemetry · 25 replay + 25 exact-zero control logs · timing is descriptive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Eight Samples Become Eight Copies</dc:title>
  <dc:subject>A story-first presentation of verified mode support in RLVR</dc:subject>
  <dc:creator>Anonymous Authors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